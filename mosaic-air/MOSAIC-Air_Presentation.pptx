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1371600"/>
            <a:ext cx="118872" cy="118872"/>
          </a:xfrm>
          <a:prstGeom prst="ellipse">
            <a:avLst/>
          </a:prstGeom>
          <a:solidFill>
            <a:srgbClr val="EAB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914400"/>
            <a:ext cx="173736" cy="173736"/>
          </a:xfrm>
          <a:prstGeom prst="ellipse">
            <a:avLst/>
          </a:prstGeom>
          <a:solidFill>
            <a:srgbClr val="EAB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1920240"/>
            <a:ext cx="137160" cy="137160"/>
          </a:xfrm>
          <a:prstGeom prst="ellipse">
            <a:avLst/>
          </a:prstGeom>
          <a:solidFill>
            <a:srgbClr val="EAB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2743200"/>
            <a:ext cx="219456" cy="219456"/>
          </a:xfrm>
          <a:prstGeom prst="ellipse">
            <a:avLst/>
          </a:prstGeom>
          <a:solidFill>
            <a:srgbClr val="EAB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64240" y="3657600"/>
            <a:ext cx="146304" cy="146304"/>
          </a:xfrm>
          <a:prstGeom prst="ellipse">
            <a:avLst/>
          </a:prstGeom>
          <a:solidFill>
            <a:srgbClr val="EAB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38160" y="4114800"/>
            <a:ext cx="155448" cy="155448"/>
          </a:xfrm>
          <a:prstGeom prst="ellipse">
            <a:avLst/>
          </a:prstGeom>
          <a:solidFill>
            <a:srgbClr val="EAB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49840" y="4937760"/>
            <a:ext cx="109728" cy="109728"/>
          </a:xfrm>
          <a:prstGeom prst="ellipse">
            <a:avLst/>
          </a:prstGeom>
          <a:solidFill>
            <a:srgbClr val="EAB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0" y="5486400"/>
            <a:ext cx="109728" cy="109728"/>
          </a:xfrm>
          <a:prstGeom prst="ellipse">
            <a:avLst/>
          </a:prstGeom>
          <a:solidFill>
            <a:srgbClr val="EAB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8503920" y="1005840"/>
            <a:ext cx="1371600" cy="457200"/>
          </a:xfrm>
          <a:prstGeom prst="line">
            <a:avLst/>
          </a:prstGeom>
          <a:ln w="16510">
            <a:solidFill>
              <a:srgbClr val="527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75520" y="1005840"/>
            <a:ext cx="914400" cy="1005840"/>
          </a:xfrm>
          <a:prstGeom prst="line">
            <a:avLst/>
          </a:prstGeom>
          <a:ln w="16510">
            <a:solidFill>
              <a:srgbClr val="527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9235440" y="2011680"/>
            <a:ext cx="1554480" cy="822960"/>
          </a:xfrm>
          <a:prstGeom prst="line">
            <a:avLst/>
          </a:prstGeom>
          <a:ln w="16510">
            <a:solidFill>
              <a:srgbClr val="527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35440" y="2834640"/>
            <a:ext cx="1920240" cy="914399"/>
          </a:xfrm>
          <a:prstGeom prst="line">
            <a:avLst/>
          </a:prstGeom>
          <a:ln w="16510">
            <a:solidFill>
              <a:srgbClr val="527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183879" y="2834640"/>
            <a:ext cx="1051561" cy="1371600"/>
          </a:xfrm>
          <a:prstGeom prst="line">
            <a:avLst/>
          </a:prstGeom>
          <a:ln w="16510">
            <a:solidFill>
              <a:srgbClr val="527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183879" y="4206240"/>
            <a:ext cx="822961" cy="1371600"/>
          </a:xfrm>
          <a:prstGeom prst="line">
            <a:avLst/>
          </a:prstGeom>
          <a:ln w="16510">
            <a:solidFill>
              <a:srgbClr val="527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006840" y="5029200"/>
            <a:ext cx="1188720" cy="548640"/>
          </a:xfrm>
          <a:prstGeom prst="line">
            <a:avLst/>
          </a:prstGeom>
          <a:ln w="16510">
            <a:solidFill>
              <a:srgbClr val="527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195560" y="3749039"/>
            <a:ext cx="960120" cy="1280161"/>
          </a:xfrm>
          <a:prstGeom prst="line">
            <a:avLst/>
          </a:prstGeom>
          <a:ln w="16510">
            <a:solidFill>
              <a:srgbClr val="527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9235440" y="1005840"/>
            <a:ext cx="640080" cy="1828800"/>
          </a:xfrm>
          <a:prstGeom prst="line">
            <a:avLst/>
          </a:prstGeom>
          <a:ln w="16510">
            <a:solidFill>
              <a:srgbClr val="527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0080" y="502920"/>
            <a:ext cx="3474720" cy="292608"/>
          </a:xfrm>
          <a:prstGeom prst="roundRect">
            <a:avLst/>
          </a:prstGeom>
          <a:solidFill>
            <a:srgbClr val="315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1" y="553212"/>
            <a:ext cx="3328415" cy="1920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900" b="1">
                <a:solidFill>
                  <a:srgbClr val="D5E6DB"/>
                </a:solidFill>
                <a:latin typeface="Aptos"/>
              </a:rPr>
              <a:t>ENVIRONMENTAL MANAGEMENT · 22ENV231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481328"/>
            <a:ext cx="6858000" cy="8686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4200" b="1">
                <a:solidFill>
                  <a:srgbClr val="FFFEFA"/>
                </a:solidFill>
                <a:latin typeface="Aptos Display"/>
              </a:rPr>
              <a:t>MOSAIC-Air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2450592"/>
            <a:ext cx="7040880" cy="11430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600" b="0">
                <a:solidFill>
                  <a:srgbClr val="D7E5DD"/>
                </a:solidFill>
                <a:latin typeface="Aptos Display"/>
              </a:rPr>
              <a:t>Wind-aware urban air
pollution forecasting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3877056"/>
            <a:ext cx="6217920" cy="7132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500" b="0">
                <a:solidFill>
                  <a:srgbClr val="B8CCC3"/>
                </a:solidFill>
                <a:latin typeface="Aptos"/>
              </a:rPr>
              <a:t>A spatiotemporal deep-learning pilot for short-term PM₂.₅ forecasts, emerging hotspots, and forecast uncertainty.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5650992"/>
            <a:ext cx="6583680" cy="274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300" b="1">
                <a:solidFill>
                  <a:srgbClr val="FFFEFA"/>
                </a:solidFill>
                <a:latin typeface="Aptos"/>
              </a:rPr>
              <a:t>Aakash  ·  Shaik Mohammed Atif  ·  Shivadev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5971032"/>
            <a:ext cx="658368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0">
                <a:solidFill>
                  <a:srgbClr val="B8CCC3"/>
                </a:solidFill>
                <a:latin typeface="Aptos"/>
              </a:rPr>
              <a:t>Amrita Vishwa Vidyapeetham · Amritapuri Campus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00" b="1">
                <a:solidFill>
                  <a:srgbClr val="B8CCC3"/>
                </a:solidFill>
                <a:latin typeface="Aptos"/>
              </a:rPr>
              <a:t>MOSAIC-AIR  ·  ENVIRONMENTAL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900" b="1">
                <a:solidFill>
                  <a:srgbClr val="B8CCC3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1">
                <a:solidFill>
                  <a:srgbClr val="2D6258"/>
                </a:solidFill>
                <a:latin typeface="Aptos"/>
              </a:rPr>
              <a:t>01 /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22376"/>
            <a:ext cx="10972800" cy="5943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700" b="1">
                <a:solidFill>
                  <a:srgbClr val="213735"/>
                </a:solidFill>
                <a:latin typeface="Aptos Display"/>
              </a:rPr>
              <a:t>Air risk changes across both time and 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78992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300" b="0">
                <a:solidFill>
                  <a:srgbClr val="70837D"/>
                </a:solidFill>
                <a:latin typeface="Aptos"/>
              </a:rPr>
              <a:t>A single citywide number can hide where the next local episode is forming.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3493008" cy="219456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9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276856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200" b="1">
                <a:solidFill>
                  <a:srgbClr val="D97754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761488"/>
            <a:ext cx="3035808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13735"/>
                </a:solidFill>
                <a:latin typeface="Aptos"/>
              </a:rPr>
              <a:t>Uneven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236976"/>
            <a:ext cx="3017520" cy="7589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400" b="0">
                <a:solidFill>
                  <a:srgbClr val="70837D"/>
                </a:solidFill>
                <a:latin typeface="Aptos"/>
              </a:rPr>
              <a:t>Sparse station coverage leaves gaps between measured locations.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2057400"/>
            <a:ext cx="3493008" cy="219456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9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276856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200" b="1">
                <a:solidFill>
                  <a:srgbClr val="D97754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61488"/>
            <a:ext cx="3035808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13735"/>
                </a:solidFill>
                <a:latin typeface="Aptos"/>
              </a:rPr>
              <a:t>Moving 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36976"/>
            <a:ext cx="3017520" cy="7589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400" b="0">
                <a:solidFill>
                  <a:srgbClr val="70837D"/>
                </a:solidFill>
                <a:latin typeface="Aptos"/>
              </a:rPr>
              <a:t>Wind and weather change how pollution builds and moves through a city.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84463" y="2057400"/>
            <a:ext cx="3493008" cy="219456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9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2276856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200" b="1">
                <a:solidFill>
                  <a:srgbClr val="D97754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2761488"/>
            <a:ext cx="3035808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13735"/>
                </a:solidFill>
                <a:latin typeface="Aptos"/>
              </a:rPr>
              <a:t>Action needs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3236976"/>
            <a:ext cx="3017520" cy="7589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400" b="0">
                <a:solidFill>
                  <a:srgbClr val="70837D"/>
                </a:solidFill>
                <a:latin typeface="Aptos"/>
              </a:rPr>
              <a:t>Managers need forecasts with uncertainty and a clear location, not a score alone.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63440"/>
            <a:ext cx="10954512" cy="1024128"/>
          </a:xfrm>
          <a:prstGeom prst="roundRect">
            <a:avLst/>
          </a:prstGeom>
          <a:solidFill>
            <a:srgbClr val="DC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910328"/>
            <a:ext cx="173736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1">
                <a:solidFill>
                  <a:srgbClr val="2D6258"/>
                </a:solidFill>
                <a:latin typeface="Aptos"/>
              </a:rPr>
              <a:t>PROJECT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4818888"/>
            <a:ext cx="8412480" cy="521207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700" b="1">
                <a:solidFill>
                  <a:srgbClr val="213735"/>
                </a:solidFill>
                <a:latin typeface="Aptos"/>
              </a:rPr>
              <a:t>Can wind-conditioned station relationships improve multi-horizon PM₂.₅ forecasts and help flag emerging high-pollution episodes?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00" b="1">
                <a:solidFill>
                  <a:srgbClr val="70837D"/>
                </a:solidFill>
                <a:latin typeface="Aptos"/>
              </a:rPr>
              <a:t>MOSAIC-AIR  ·  ENVIRONMENTAL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900" b="1">
                <a:solidFill>
                  <a:srgbClr val="70837D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1">
                <a:solidFill>
                  <a:srgbClr val="E5B96C"/>
                </a:solidFill>
                <a:latin typeface="Aptos"/>
              </a:rPr>
              <a:t>02 /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22376"/>
            <a:ext cx="10972800" cy="5943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700" b="1">
                <a:solidFill>
                  <a:srgbClr val="FFFEFA"/>
                </a:solidFill>
                <a:latin typeface="Aptos Display"/>
              </a:rPr>
              <a:t>From monitoring records to decision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78992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300" b="0">
                <a:solidFill>
                  <a:srgbClr val="C4D2CC"/>
                </a:solidFill>
                <a:latin typeface="Aptos"/>
              </a:rPr>
              <a:t>One reproducible pilot links modelling, evaluation, and a location-focused interface.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063240" cy="2057400"/>
          </a:xfrm>
          <a:prstGeom prst="roundRect">
            <a:avLst/>
          </a:prstGeom>
          <a:solidFill>
            <a:srgbClr val="294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2423160"/>
            <a:ext cx="45720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200" b="1">
                <a:solidFill>
                  <a:srgbClr val="EAB45E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834640"/>
            <a:ext cx="2651760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200" b="1">
                <a:solidFill>
                  <a:srgbClr val="FFFEFA"/>
                </a:solidFill>
                <a:latin typeface="Aptos"/>
              </a:rPr>
              <a:t>Prepare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383280"/>
            <a:ext cx="2615184" cy="5943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400" b="0">
                <a:solidFill>
                  <a:srgbClr val="C4D2CC"/>
                </a:solidFill>
                <a:latin typeface="Aptos"/>
              </a:rPr>
              <a:t>Hourly PM₂.₅ + weather
12 station panel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86200" y="3218688"/>
            <a:ext cx="502920" cy="0"/>
          </a:xfrm>
          <a:prstGeom prst="line">
            <a:avLst/>
          </a:prstGeom>
          <a:ln w="25400">
            <a:solidFill>
              <a:srgbClr val="EAB4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0" y="2194560"/>
            <a:ext cx="3063240" cy="2057400"/>
          </a:xfrm>
          <a:prstGeom prst="roundRect">
            <a:avLst/>
          </a:prstGeom>
          <a:solidFill>
            <a:srgbClr val="294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91456" y="2423160"/>
            <a:ext cx="45720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200" b="1">
                <a:solidFill>
                  <a:srgbClr val="EAB45E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91456" y="2834640"/>
            <a:ext cx="2651760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200" b="1">
                <a:solidFill>
                  <a:srgbClr val="FFFEFA"/>
                </a:solidFill>
                <a:latin typeface="Aptos"/>
              </a:rPr>
              <a:t>Forecast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1456" y="3383280"/>
            <a:ext cx="2615184" cy="5943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400" b="0">
                <a:solidFill>
                  <a:srgbClr val="C4D2CC"/>
                </a:solidFill>
                <a:latin typeface="Aptos"/>
              </a:rPr>
              <a:t>WAGTF-Net
+1 · +6 · +24 hours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26679" y="3218688"/>
            <a:ext cx="502921" cy="0"/>
          </a:xfrm>
          <a:prstGeom prst="line">
            <a:avLst/>
          </a:prstGeom>
          <a:ln w="25400">
            <a:solidFill>
              <a:srgbClr val="EAB4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412480" y="2194560"/>
            <a:ext cx="3063240" cy="2057400"/>
          </a:xfrm>
          <a:prstGeom prst="roundRect">
            <a:avLst/>
          </a:prstGeom>
          <a:solidFill>
            <a:srgbClr val="294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31936" y="2423160"/>
            <a:ext cx="45720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200" b="1">
                <a:solidFill>
                  <a:srgbClr val="EAB45E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1936" y="2834640"/>
            <a:ext cx="2651760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200" b="1">
                <a:solidFill>
                  <a:srgbClr val="FFFEFA"/>
                </a:solidFill>
                <a:latin typeface="Aptos"/>
              </a:rPr>
              <a:t>Communicate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3383280"/>
            <a:ext cx="2615184" cy="5943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400" b="0">
                <a:solidFill>
                  <a:srgbClr val="C4D2CC"/>
                </a:solidFill>
                <a:latin typeface="Aptos"/>
              </a:rPr>
              <a:t>Hotspots · event probability
P10–P90 uncertainty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882896"/>
            <a:ext cx="173736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00" b="1">
                <a:solidFill>
                  <a:srgbClr val="EAB45E"/>
                </a:solidFill>
                <a:latin typeface="Aptos"/>
              </a:rPr>
              <a:t>Research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5230368"/>
            <a:ext cx="1069848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700" b="1">
                <a:solidFill>
                  <a:srgbClr val="FFFEFA"/>
                </a:solidFill>
                <a:latin typeface="Aptos"/>
              </a:rPr>
              <a:t>Benchmark short-horizon forecasts · detect episode risk · test missing-input sensitivity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00" b="1">
                <a:solidFill>
                  <a:srgbClr val="B8CCC3"/>
                </a:solidFill>
                <a:latin typeface="Aptos"/>
              </a:rPr>
              <a:t>MOSAIC-AIR  ·  ENVIRONMENTAL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900" b="1">
                <a:solidFill>
                  <a:srgbClr val="B8CCC3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1">
                <a:solidFill>
                  <a:srgbClr val="2D6258"/>
                </a:solidFill>
                <a:latin typeface="Aptos"/>
              </a:rPr>
              <a:t>03 /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22376"/>
            <a:ext cx="10972800" cy="5943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700" b="1">
                <a:solidFill>
                  <a:srgbClr val="213735"/>
                </a:solidFill>
                <a:latin typeface="Aptos Display"/>
              </a:rPr>
              <a:t>A documented multi-station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78992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300" b="0">
                <a:solidFill>
                  <a:srgbClr val="70837D"/>
                </a:solidFill>
                <a:latin typeface="Aptos"/>
              </a:rPr>
              <a:t>UCI Beijing Multi-Site Air Quality · historical hourly observations · public CC BY 4.0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828800"/>
            <a:ext cx="3657600" cy="406908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9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57400"/>
            <a:ext cx="182880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D6258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1488" y="2107692"/>
            <a:ext cx="1170432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0">
                <a:solidFill>
                  <a:srgbClr val="70837D"/>
                </a:solidFill>
                <a:latin typeface="Aptos"/>
              </a:rPr>
              <a:t>monitoring sites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779776"/>
            <a:ext cx="182880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D6258"/>
                </a:solidFill>
                <a:latin typeface="Aptos"/>
              </a:rPr>
              <a:t>35,064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2830068"/>
            <a:ext cx="1170432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0">
                <a:solidFill>
                  <a:srgbClr val="70837D"/>
                </a:solidFill>
                <a:latin typeface="Aptos"/>
              </a:rPr>
              <a:t>hourly timestamps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502152"/>
            <a:ext cx="182880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D6258"/>
                </a:solidFill>
                <a:latin typeface="Aptos"/>
              </a:rPr>
              <a:t>420,768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3552444"/>
            <a:ext cx="1170432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0">
                <a:solidFill>
                  <a:srgbClr val="70837D"/>
                </a:solidFill>
                <a:latin typeface="Aptos"/>
              </a:rPr>
              <a:t>site-hour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224528"/>
            <a:ext cx="182880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D6258"/>
                </a:solidFill>
                <a:latin typeface="Aptos"/>
              </a:rPr>
              <a:t>2013–2017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4274820"/>
            <a:ext cx="1170432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0">
                <a:solidFill>
                  <a:srgbClr val="70837D"/>
                </a:solidFill>
                <a:latin typeface="Aptos"/>
              </a:rPr>
              <a:t>benchmark period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5074920"/>
            <a:ext cx="3108960" cy="5669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50" b="0">
                <a:solidFill>
                  <a:srgbClr val="70837D"/>
                </a:solidFill>
                <a:latin typeface="Aptos"/>
              </a:rPr>
              <a:t>PM₂.₅ · PM₁₀ · SO₂ · NO₂ · CO · O₃
Temperature · pressure · dew point
Precipitation · wind direction · speed</a:t>
            </a:r>
          </a:p>
        </p:txBody>
      </p:sp>
      <p:pic>
        <p:nvPicPr>
          <p:cNvPr id="15" name="Picture 14" descr="statio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828800"/>
            <a:ext cx="4572000" cy="40690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345168" y="1828800"/>
            <a:ext cx="2194560" cy="4069080"/>
          </a:xfrm>
          <a:prstGeom prst="roundRect">
            <a:avLst/>
          </a:prstGeom>
          <a:solidFill>
            <a:srgbClr val="DC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82912" y="2130552"/>
            <a:ext cx="173736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1">
                <a:solidFill>
                  <a:srgbClr val="2D6258"/>
                </a:solidFill>
                <a:latin typeface="Aptos"/>
              </a:rPr>
              <a:t>PILOT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82912" y="2578608"/>
            <a:ext cx="1645920" cy="4114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200" b="1">
                <a:solidFill>
                  <a:srgbClr val="213735"/>
                </a:solidFill>
                <a:latin typeface="Aptos"/>
              </a:rPr>
              <a:t>Beijing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82912" y="3154680"/>
            <a:ext cx="1664208" cy="1508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300" b="0">
                <a:solidFill>
                  <a:srgbClr val="213735"/>
                </a:solidFill>
                <a:latin typeface="Aptos"/>
              </a:rPr>
              <a:t>Public benchmark makes the method reproducible. It does not represent air quality in Kerala or Amritapuri.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2912" y="4937760"/>
            <a:ext cx="1664208" cy="6126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0">
                <a:solidFill>
                  <a:srgbClr val="70837D"/>
                </a:solidFill>
                <a:latin typeface="Aptos"/>
              </a:rPr>
              <a:t>Site coordinates are approximate values added from published station tables.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00" b="1">
                <a:solidFill>
                  <a:srgbClr val="70837D"/>
                </a:solidFill>
                <a:latin typeface="Aptos"/>
              </a:rPr>
              <a:t>MOSAIC-AIR  ·  ENVIRONMENTAL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900" b="1">
                <a:solidFill>
                  <a:srgbClr val="70837D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1">
                <a:solidFill>
                  <a:srgbClr val="2D6258"/>
                </a:solidFill>
                <a:latin typeface="Aptos"/>
              </a:rPr>
              <a:t>04 /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22376"/>
            <a:ext cx="10972800" cy="5943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700" b="1">
                <a:solidFill>
                  <a:srgbClr val="213735"/>
                </a:solidFill>
                <a:latin typeface="Aptos Display"/>
              </a:rPr>
              <a:t>MOSAIC-Air connects prediction to a readable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78992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300" b="0">
                <a:solidFill>
                  <a:srgbClr val="70837D"/>
                </a:solidFill>
                <a:latin typeface="Aptos"/>
              </a:rPr>
              <a:t>The pilot is implemented end to end: historical panel → model → API → browser dashboard.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2331720"/>
            <a:ext cx="2423160" cy="1874519"/>
          </a:xfrm>
          <a:prstGeom prst="roundRect">
            <a:avLst/>
          </a:prstGeom>
          <a:solidFill>
            <a:srgbClr val="DC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587752"/>
            <a:ext cx="2057400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000" b="1">
                <a:solidFill>
                  <a:srgbClr val="2D6258"/>
                </a:solidFill>
                <a:latin typeface="Aptos"/>
              </a:rPr>
              <a:t>INPUT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35808"/>
            <a:ext cx="2057400" cy="8686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400" b="0">
                <a:solidFill>
                  <a:srgbClr val="2D6258"/>
                </a:solidFill>
                <a:latin typeface="Aptos"/>
              </a:rPr>
              <a:t>24 h of pollution
weather · time
station locations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54096" y="3255264"/>
            <a:ext cx="347472" cy="0"/>
          </a:xfrm>
          <a:prstGeom prst="line">
            <a:avLst/>
          </a:prstGeom>
          <a:ln w="25400">
            <a:solidFill>
              <a:srgbClr val="2D62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93008" y="2331720"/>
            <a:ext cx="2423160" cy="1874519"/>
          </a:xfrm>
          <a:prstGeom prst="roundRect">
            <a:avLst/>
          </a:prstGeom>
          <a:solidFill>
            <a:srgbClr val="2D6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587752"/>
            <a:ext cx="2057400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000" b="1">
                <a:solidFill>
                  <a:srgbClr val="FFFEFA"/>
                </a:solidFill>
                <a:latin typeface="Aptos"/>
              </a:rPr>
              <a:t>WAGTF-NET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035808"/>
            <a:ext cx="2057400" cy="8686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400" b="0">
                <a:solidFill>
                  <a:srgbClr val="FFFEFA"/>
                </a:solidFill>
                <a:latin typeface="Aptos"/>
              </a:rPr>
              <a:t>temporal convolution
wind-biased graph attention
adaptive fusion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61888" y="3255264"/>
            <a:ext cx="347472" cy="0"/>
          </a:xfrm>
          <a:prstGeom prst="line">
            <a:avLst/>
          </a:prstGeom>
          <a:ln w="25400">
            <a:solidFill>
              <a:srgbClr val="2D62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0" y="2331720"/>
            <a:ext cx="2423160" cy="1874519"/>
          </a:xfrm>
          <a:prstGeom prst="roundRect">
            <a:avLst/>
          </a:prstGeom>
          <a:solidFill>
            <a:srgbClr val="EAB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2587752"/>
            <a:ext cx="2057400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000" b="1">
                <a:solidFill>
                  <a:srgbClr val="213735"/>
                </a:solidFill>
                <a:latin typeface="Aptos"/>
              </a:rPr>
              <a:t>FORECAST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3035808"/>
            <a:ext cx="2057400" cy="8686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400" b="0">
                <a:solidFill>
                  <a:srgbClr val="213735"/>
                </a:solidFill>
                <a:latin typeface="Aptos"/>
              </a:rPr>
              <a:t>PM₂.₅ median
P10 / P90 range
episode probability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69680" y="3255264"/>
            <a:ext cx="347472" cy="0"/>
          </a:xfrm>
          <a:prstGeom prst="line">
            <a:avLst/>
          </a:prstGeom>
          <a:ln w="25400">
            <a:solidFill>
              <a:srgbClr val="2D62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308592" y="2331720"/>
            <a:ext cx="2423160" cy="1874519"/>
          </a:xfrm>
          <a:prstGeom prst="roundRect">
            <a:avLst/>
          </a:prstGeom>
          <a:solidFill>
            <a:srgbClr val="D97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73184" y="2587752"/>
            <a:ext cx="2057400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000" b="1">
                <a:solidFill>
                  <a:srgbClr val="FFFEFA"/>
                </a:solidFill>
                <a:latin typeface="Aptos"/>
              </a:rPr>
              <a:t>INTERFACE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3184" y="3035808"/>
            <a:ext cx="2057400" cy="8686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400" b="0">
                <a:solidFill>
                  <a:srgbClr val="FFFEFA"/>
                </a:solidFill>
                <a:latin typeface="Aptos"/>
              </a:rPr>
              <a:t>station map
hotspots · weather
REST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800600"/>
            <a:ext cx="10771632" cy="768096"/>
          </a:xfrm>
          <a:prstGeom prst="round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047488"/>
            <a:ext cx="192024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200" b="1">
                <a:solidFill>
                  <a:srgbClr val="D97754"/>
                </a:solidFill>
                <a:latin typeface="Aptos"/>
              </a:rPr>
              <a:t>Historical replay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16352" y="5020056"/>
            <a:ext cx="8092440" cy="274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400" b="0">
                <a:solidFill>
                  <a:srgbClr val="213735"/>
                </a:solidFill>
                <a:latin typeface="Aptos"/>
              </a:rPr>
              <a:t>Current pollution observations and forecast weather are needed before this pipeline can be used live.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00" b="1">
                <a:solidFill>
                  <a:srgbClr val="70837D"/>
                </a:solidFill>
                <a:latin typeface="Aptos"/>
              </a:rPr>
              <a:t>MOSAIC-AIR  ·  ENVIRONMENTAL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900" b="1">
                <a:solidFill>
                  <a:srgbClr val="70837D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1">
                <a:solidFill>
                  <a:srgbClr val="E5B96C"/>
                </a:solidFill>
                <a:latin typeface="Aptos"/>
              </a:rPr>
              <a:t>05 /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22376"/>
            <a:ext cx="10972800" cy="5943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700" b="1">
                <a:solidFill>
                  <a:srgbClr val="FFFEFA"/>
                </a:solidFill>
                <a:latin typeface="Aptos Display"/>
              </a:rPr>
              <a:t>Wind changes how station information is shared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78992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300" b="0">
                <a:solidFill>
                  <a:srgbClr val="C4D2CC"/>
                </a:solidFill>
                <a:latin typeface="Aptos"/>
              </a:rPr>
              <a:t>Attention combines learned similarity with direction, speed, and distance.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2926080"/>
            <a:ext cx="512064" cy="512064"/>
          </a:xfrm>
          <a:prstGeom prst="ellipse">
            <a:avLst/>
          </a:prstGeom>
          <a:solidFill>
            <a:srgbClr val="EAB45E"/>
          </a:solidFill>
          <a:ln>
            <a:solidFill>
              <a:srgbClr val="FFF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3072384"/>
            <a:ext cx="201168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100" b="1">
                <a:solidFill>
                  <a:srgbClr val="1C3935"/>
                </a:solidFill>
                <a:latin typeface="Aptos"/>
              </a:rPr>
              <a:t>A</a:t>
            </a:r>
          </a:p>
        </p:txBody>
      </p:sp>
      <p:sp>
        <p:nvSpPr>
          <p:cNvPr id="7" name="Oval 6"/>
          <p:cNvSpPr/>
          <p:nvPr/>
        </p:nvSpPr>
        <p:spPr>
          <a:xfrm>
            <a:off x="3108960" y="1920240"/>
            <a:ext cx="512064" cy="512064"/>
          </a:xfrm>
          <a:prstGeom prst="ellipse">
            <a:avLst/>
          </a:prstGeom>
          <a:solidFill>
            <a:srgbClr val="EAB45E"/>
          </a:solidFill>
          <a:ln>
            <a:solidFill>
              <a:srgbClr val="FFF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64408" y="2066544"/>
            <a:ext cx="201168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100" b="1">
                <a:solidFill>
                  <a:srgbClr val="1C3935"/>
                </a:solidFill>
                <a:latin typeface="Aptos"/>
              </a:rPr>
              <a:t>B</a:t>
            </a:r>
          </a:p>
        </p:txBody>
      </p:sp>
      <p:sp>
        <p:nvSpPr>
          <p:cNvPr id="9" name="Oval 8"/>
          <p:cNvSpPr/>
          <p:nvPr/>
        </p:nvSpPr>
        <p:spPr>
          <a:xfrm>
            <a:off x="3246120" y="4114800"/>
            <a:ext cx="512064" cy="512064"/>
          </a:xfrm>
          <a:prstGeom prst="ellipse">
            <a:avLst/>
          </a:prstGeom>
          <a:solidFill>
            <a:srgbClr val="EAB45E"/>
          </a:solidFill>
          <a:ln>
            <a:solidFill>
              <a:srgbClr val="FFF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1568" y="4261104"/>
            <a:ext cx="201168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100" b="1">
                <a:solidFill>
                  <a:srgbClr val="1C3935"/>
                </a:solidFill>
                <a:latin typeface="Aptos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5212080" y="2971800"/>
            <a:ext cx="512064" cy="512064"/>
          </a:xfrm>
          <a:prstGeom prst="ellipse">
            <a:avLst/>
          </a:prstGeom>
          <a:solidFill>
            <a:srgbClr val="EAB45E"/>
          </a:solidFill>
          <a:ln>
            <a:solidFill>
              <a:srgbClr val="FFF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67528" y="3118104"/>
            <a:ext cx="201168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100" b="1">
                <a:solidFill>
                  <a:srgbClr val="1C3935"/>
                </a:solidFill>
                <a:latin typeface="Aptos"/>
              </a:rPr>
              <a:t>D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1600200" y="2194560"/>
            <a:ext cx="1508760" cy="960120"/>
          </a:xfrm>
          <a:prstGeom prst="line">
            <a:avLst/>
          </a:prstGeom>
          <a:ln w="21590">
            <a:solidFill>
              <a:srgbClr val="668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600200" y="3200400"/>
            <a:ext cx="1645920" cy="1051560"/>
          </a:xfrm>
          <a:prstGeom prst="line">
            <a:avLst/>
          </a:prstGeom>
          <a:ln w="21590">
            <a:solidFill>
              <a:srgbClr val="668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611880" y="2148840"/>
            <a:ext cx="1600200" cy="1005840"/>
          </a:xfrm>
          <a:prstGeom prst="line">
            <a:avLst/>
          </a:prstGeom>
          <a:ln w="21590">
            <a:solidFill>
              <a:srgbClr val="668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749039" y="3246120"/>
            <a:ext cx="1463041" cy="1005840"/>
          </a:xfrm>
          <a:prstGeom prst="line">
            <a:avLst/>
          </a:prstGeom>
          <a:ln w="21590">
            <a:solidFill>
              <a:srgbClr val="668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ight Arrow 16"/>
          <p:cNvSpPr/>
          <p:nvPr/>
        </p:nvSpPr>
        <p:spPr>
          <a:xfrm>
            <a:off x="914400" y="4910328"/>
            <a:ext cx="3474720" cy="146304"/>
          </a:xfrm>
          <a:prstGeom prst="rightArrow">
            <a:avLst/>
          </a:prstGeom>
          <a:solidFill>
            <a:srgbClr val="D97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93792"/>
            <a:ext cx="13716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1">
                <a:solidFill>
                  <a:srgbClr val="E6B06D"/>
                </a:solidFill>
                <a:latin typeface="Aptos"/>
              </a:rPr>
              <a:t>DOWNWIND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1920240"/>
            <a:ext cx="5394960" cy="3566160"/>
          </a:xfrm>
          <a:prstGeom prst="roundRect">
            <a:avLst/>
          </a:prstGeom>
          <a:solidFill>
            <a:srgbClr val="294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221992"/>
            <a:ext cx="4709160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300" b="1">
                <a:solidFill>
                  <a:srgbClr val="FFFEFA"/>
                </a:solidFill>
                <a:latin typeface="Aptos"/>
              </a:rPr>
              <a:t>WAGTF-Net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852928"/>
            <a:ext cx="4572000" cy="21488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D7E5DD"/>
                </a:solidFill>
                <a:latin typeface="Aptos"/>
              </a:defRPr>
            </a:pPr>
            <a:r>
              <a:t>•  24 h temporal convolution per station</a:t>
            </a:r>
          </a:p>
          <a:p>
            <a:pPr>
              <a:spcAft>
                <a:spcPts val="1200"/>
              </a:spcAft>
              <a:defRPr sz="1400">
                <a:solidFill>
                  <a:srgbClr val="D7E5DD"/>
                </a:solidFill>
                <a:latin typeface="Aptos"/>
              </a:defRPr>
            </a:pPr>
            <a:r>
              <a:t>•  Graph attention across nearby sites</a:t>
            </a:r>
          </a:p>
          <a:p>
            <a:pPr>
              <a:spcAft>
                <a:spcPts val="1200"/>
              </a:spcAft>
              <a:defRPr sz="1400">
                <a:solidFill>
                  <a:srgbClr val="D7E5DD"/>
                </a:solidFill>
                <a:latin typeface="Aptos"/>
              </a:defRPr>
            </a:pPr>
            <a:r>
              <a:t>•  Wind alignment biases source → destination influence</a:t>
            </a:r>
          </a:p>
          <a:p>
            <a:pPr>
              <a:spcAft>
                <a:spcPts val="1200"/>
              </a:spcAft>
              <a:defRPr sz="1400">
                <a:solidFill>
                  <a:srgbClr val="D7E5DD"/>
                </a:solidFill>
                <a:latin typeface="Aptos"/>
              </a:defRPr>
            </a:pPr>
            <a:r>
              <a:t>•  Three horizons × P10 / P50 / P90 + episode probability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956048"/>
            <a:ext cx="4572000" cy="3383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0">
                <a:solidFill>
                  <a:srgbClr val="B8CCC3"/>
                </a:solidFill>
                <a:latin typeface="Aptos"/>
              </a:rPr>
              <a:t>Approximate wind-informed attention is a learned influence prior, not a physical transport simulator.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00" b="1">
                <a:solidFill>
                  <a:srgbClr val="B8CCC3"/>
                </a:solidFill>
                <a:latin typeface="Aptos"/>
              </a:rPr>
              <a:t>MOSAIC-AIR  ·  ENVIRONMENTAL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900" b="1">
                <a:solidFill>
                  <a:srgbClr val="B8CCC3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1">
                <a:solidFill>
                  <a:srgbClr val="2D6258"/>
                </a:solidFill>
                <a:latin typeface="Aptos"/>
              </a:rPr>
              <a:t>06 /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22376"/>
            <a:ext cx="10972800" cy="5943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700" b="1">
                <a:solidFill>
                  <a:srgbClr val="213735"/>
                </a:solidFill>
                <a:latin typeface="Aptos Display"/>
              </a:rPr>
              <a:t>Chronological holdout tests time-forward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78992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300" b="0">
                <a:solidFill>
                  <a:srgbClr val="70837D"/>
                </a:solidFill>
                <a:latin typeface="Aptos"/>
              </a:rPr>
              <a:t>Inputs use the previous 24 hours; issue times are spaced every six hours.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84831"/>
            <a:ext cx="4937760" cy="960120"/>
          </a:xfrm>
          <a:prstGeom prst="roundRect">
            <a:avLst/>
          </a:prstGeom>
          <a:solidFill>
            <a:srgbClr val="2D6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249424"/>
            <a:ext cx="4608576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1">
                <a:solidFill>
                  <a:srgbClr val="FFFEFA"/>
                </a:solidFill>
                <a:latin typeface="Aptos"/>
              </a:rPr>
              <a:t>TRAIN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42032"/>
            <a:ext cx="4608576" cy="2834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500" b="1">
                <a:solidFill>
                  <a:srgbClr val="FFFEFA"/>
                </a:solidFill>
                <a:latin typeface="Aptos"/>
              </a:rPr>
              <a:t>Mar 2013 – Dec 2015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33288" y="2084831"/>
            <a:ext cx="2514600" cy="960120"/>
          </a:xfrm>
          <a:prstGeom prst="roundRect">
            <a:avLst/>
          </a:prstGeom>
          <a:solidFill>
            <a:srgbClr val="EAB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80" y="2249424"/>
            <a:ext cx="2185416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1">
                <a:solidFill>
                  <a:srgbClr val="213735"/>
                </a:solidFill>
                <a:latin typeface="Aptos"/>
              </a:rPr>
              <a:t>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2542032"/>
            <a:ext cx="2185416" cy="2834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500" b="1">
                <a:solidFill>
                  <a:srgbClr val="213735"/>
                </a:solidFill>
                <a:latin typeface="Aptos"/>
              </a:rPr>
              <a:t>Jan – Jun 2016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85048" y="2084831"/>
            <a:ext cx="3429000" cy="960120"/>
          </a:xfrm>
          <a:prstGeom prst="roundRect">
            <a:avLst/>
          </a:prstGeom>
          <a:solidFill>
            <a:srgbClr val="D97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2249424"/>
            <a:ext cx="3099816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1">
                <a:solidFill>
                  <a:srgbClr val="FFFEFA"/>
                </a:solidFill>
                <a:latin typeface="Aptos"/>
              </a:rPr>
              <a:t>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542032"/>
            <a:ext cx="3099816" cy="2834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500" b="1">
                <a:solidFill>
                  <a:srgbClr val="FFFEFA"/>
                </a:solidFill>
                <a:latin typeface="Aptos"/>
              </a:rPr>
              <a:t>Jul 2016 – Feb 2017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529584"/>
            <a:ext cx="20574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1">
                <a:solidFill>
                  <a:srgbClr val="2D6258"/>
                </a:solidFill>
                <a:latin typeface="Aptos"/>
              </a:rPr>
              <a:t>FORECAST HORIZONS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3483864"/>
            <a:ext cx="1051560" cy="292608"/>
          </a:xfrm>
          <a:prstGeom prst="roundRect">
            <a:avLst/>
          </a:prstGeom>
          <a:solidFill>
            <a:srgbClr val="DC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16352" y="3534156"/>
            <a:ext cx="905255" cy="1920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900" b="1">
                <a:solidFill>
                  <a:srgbClr val="2D6258"/>
                </a:solidFill>
                <a:latin typeface="Aptos"/>
              </a:rPr>
              <a:t>+1 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41648" y="3483864"/>
            <a:ext cx="1051560" cy="292608"/>
          </a:xfrm>
          <a:prstGeom prst="roundRect">
            <a:avLst/>
          </a:prstGeom>
          <a:solidFill>
            <a:srgbClr val="DC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3534156"/>
            <a:ext cx="905255" cy="1920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900" b="1">
                <a:solidFill>
                  <a:srgbClr val="2D6258"/>
                </a:solidFill>
                <a:latin typeface="Aptos"/>
              </a:rPr>
              <a:t>+6 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40096" y="3483864"/>
            <a:ext cx="1051560" cy="292608"/>
          </a:xfrm>
          <a:prstGeom prst="roundRect">
            <a:avLst/>
          </a:prstGeom>
          <a:solidFill>
            <a:srgbClr val="DC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13248" y="3534156"/>
            <a:ext cx="905255" cy="1920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900" b="1">
                <a:solidFill>
                  <a:srgbClr val="2D6258"/>
                </a:solidFill>
                <a:latin typeface="Aptos"/>
              </a:rPr>
              <a:t>+24 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160520"/>
            <a:ext cx="5257800" cy="141732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9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407408"/>
            <a:ext cx="118872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1">
                <a:solidFill>
                  <a:srgbClr val="2D6258"/>
                </a:solidFill>
                <a:latin typeface="Aptos"/>
              </a:rPr>
              <a:t>BASELINES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791456"/>
            <a:ext cx="4572000" cy="3383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700" b="1">
                <a:solidFill>
                  <a:srgbClr val="213735"/>
                </a:solidFill>
                <a:latin typeface="Aptos"/>
              </a:rPr>
              <a:t>Persistence · HistGradientBoosting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4768" y="4160520"/>
            <a:ext cx="5376672" cy="141732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9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4407408"/>
            <a:ext cx="146304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1">
                <a:solidFill>
                  <a:srgbClr val="2D6258"/>
                </a:solidFill>
                <a:latin typeface="Aptos"/>
              </a:rPr>
              <a:t>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4764024"/>
            <a:ext cx="4773168" cy="4572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400" b="1">
                <a:solidFill>
                  <a:srgbClr val="213735"/>
                </a:solidFill>
                <a:latin typeface="Aptos"/>
              </a:rPr>
              <a:t>MAE · RMSE · R² · episode F1 / Brier · P10–P90 coverage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00" b="1">
                <a:solidFill>
                  <a:srgbClr val="70837D"/>
                </a:solidFill>
                <a:latin typeface="Aptos"/>
              </a:rPr>
              <a:t>MOSAIC-AIR  ·  ENVIRONMENTAL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900" b="1">
                <a:solidFill>
                  <a:srgbClr val="70837D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1">
                <a:solidFill>
                  <a:srgbClr val="2D6258"/>
                </a:solidFill>
                <a:latin typeface="Aptos"/>
              </a:rPr>
              <a:t>07 /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22376"/>
            <a:ext cx="10972800" cy="5943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700" b="1">
                <a:solidFill>
                  <a:srgbClr val="213735"/>
                </a:solidFill>
                <a:latin typeface="Aptos Display"/>
              </a:rPr>
              <a:t>WAGTF-Net is strongest at six hours in this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78992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300" b="0">
                <a:solidFill>
                  <a:srgbClr val="70837D"/>
                </a:solidFill>
                <a:latin typeface="Aptos"/>
              </a:rPr>
              <a:t>Held-out MAE (µg/m³) · all event cutoffs selected on validation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5577840"/>
            <a:ext cx="7406639" cy="0"/>
          </a:xfrm>
          <a:prstGeom prst="line">
            <a:avLst/>
          </a:prstGeom>
          <a:ln w="8890">
            <a:solidFill>
              <a:srgbClr val="D9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94944" y="5504688"/>
            <a:ext cx="27432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800" b="0">
                <a:solidFill>
                  <a:srgbClr val="70837D"/>
                </a:solidFill>
                <a:latin typeface="Aptos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97280" y="4585062"/>
            <a:ext cx="7406639" cy="0"/>
          </a:xfrm>
          <a:prstGeom prst="line">
            <a:avLst/>
          </a:prstGeom>
          <a:ln w="8890">
            <a:solidFill>
              <a:srgbClr val="D9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94944" y="4511910"/>
            <a:ext cx="27432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800" b="0">
                <a:solidFill>
                  <a:srgbClr val="70837D"/>
                </a:solidFill>
                <a:latin typeface="Aptos"/>
              </a:rPr>
              <a:t>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97280" y="3592285"/>
            <a:ext cx="7406639" cy="0"/>
          </a:xfrm>
          <a:prstGeom prst="line">
            <a:avLst/>
          </a:prstGeom>
          <a:ln w="8890">
            <a:solidFill>
              <a:srgbClr val="D9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94944" y="3519133"/>
            <a:ext cx="27432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800" b="0">
                <a:solidFill>
                  <a:srgbClr val="70837D"/>
                </a:solidFill>
                <a:latin typeface="Aptos"/>
              </a:rPr>
              <a:t>40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97280" y="2599508"/>
            <a:ext cx="7406639" cy="0"/>
          </a:xfrm>
          <a:prstGeom prst="line">
            <a:avLst/>
          </a:prstGeom>
          <a:ln w="8890">
            <a:solidFill>
              <a:srgbClr val="D9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94944" y="2526356"/>
            <a:ext cx="27432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800" b="0">
                <a:solidFill>
                  <a:srgbClr val="70837D"/>
                </a:solidFill>
                <a:latin typeface="Aptos"/>
              </a:rPr>
              <a:t>60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5059472"/>
            <a:ext cx="393192" cy="518367"/>
          </a:xfrm>
          <a:prstGeom prst="rect">
            <a:avLst/>
          </a:prstGeom>
          <a:solidFill>
            <a:srgbClr val="708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65376" y="4812584"/>
            <a:ext cx="50292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900" b="1">
                <a:solidFill>
                  <a:srgbClr val="213735"/>
                </a:solidFill>
                <a:latin typeface="Aptos"/>
              </a:rPr>
              <a:t>10.4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50592" y="5078031"/>
            <a:ext cx="393192" cy="499808"/>
          </a:xfrm>
          <a:prstGeom prst="rect">
            <a:avLst/>
          </a:prstGeom>
          <a:solidFill>
            <a:srgbClr val="EAB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95728" y="4831143"/>
            <a:ext cx="50292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900" b="1">
                <a:solidFill>
                  <a:srgbClr val="213735"/>
                </a:solidFill>
                <a:latin typeface="Aptos"/>
              </a:rPr>
              <a:t>10.1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80944" y="5035334"/>
            <a:ext cx="393192" cy="542505"/>
          </a:xfrm>
          <a:prstGeom prst="rect">
            <a:avLst/>
          </a:prstGeom>
          <a:solidFill>
            <a:srgbClr val="2D6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79" y="4788446"/>
            <a:ext cx="50292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900" b="1">
                <a:solidFill>
                  <a:srgbClr val="213735"/>
                </a:solidFill>
                <a:latin typeface="Aptos"/>
              </a:rPr>
              <a:t>10.9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1952" y="5751576"/>
            <a:ext cx="16459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100" b="1">
                <a:solidFill>
                  <a:srgbClr val="213735"/>
                </a:solidFill>
                <a:latin typeface="Aptos"/>
              </a:rPr>
              <a:t>+1 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884743"/>
            <a:ext cx="393192" cy="1693096"/>
          </a:xfrm>
          <a:prstGeom prst="rect">
            <a:avLst/>
          </a:prstGeom>
          <a:solidFill>
            <a:srgbClr val="708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88536" y="3637855"/>
            <a:ext cx="50292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900" b="1">
                <a:solidFill>
                  <a:srgbClr val="213735"/>
                </a:solidFill>
                <a:latin typeface="Aptos"/>
              </a:rPr>
              <a:t>34.1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3752" y="4029414"/>
            <a:ext cx="393192" cy="1548425"/>
          </a:xfrm>
          <a:prstGeom prst="rect">
            <a:avLst/>
          </a:prstGeom>
          <a:solidFill>
            <a:srgbClr val="EAB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18888" y="3782526"/>
            <a:ext cx="50292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900" b="1">
                <a:solidFill>
                  <a:srgbClr val="213735"/>
                </a:solidFill>
                <a:latin typeface="Aptos"/>
              </a:rPr>
              <a:t>31.2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04104" y="4148353"/>
            <a:ext cx="393192" cy="1429486"/>
          </a:xfrm>
          <a:prstGeom prst="rect">
            <a:avLst/>
          </a:prstGeom>
          <a:solidFill>
            <a:srgbClr val="2D6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3901465"/>
            <a:ext cx="50292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900" b="1">
                <a:solidFill>
                  <a:srgbClr val="213735"/>
                </a:solidFill>
                <a:latin typeface="Aptos"/>
              </a:rPr>
              <a:t>28.8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5112" y="5751576"/>
            <a:ext cx="16459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100" b="1">
                <a:solidFill>
                  <a:srgbClr val="213735"/>
                </a:solidFill>
                <a:latin typeface="Aptos"/>
              </a:rPr>
              <a:t>+6 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2459441"/>
            <a:ext cx="393192" cy="3118398"/>
          </a:xfrm>
          <a:prstGeom prst="rect">
            <a:avLst/>
          </a:prstGeom>
          <a:solidFill>
            <a:srgbClr val="708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11696" y="2212553"/>
            <a:ext cx="50292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900" b="1">
                <a:solidFill>
                  <a:srgbClr val="213735"/>
                </a:solidFill>
                <a:latin typeface="Aptos"/>
              </a:rPr>
              <a:t>62.8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96912" y="2870953"/>
            <a:ext cx="393192" cy="2706886"/>
          </a:xfrm>
          <a:prstGeom prst="rect">
            <a:avLst/>
          </a:prstGeom>
          <a:solidFill>
            <a:srgbClr val="EAB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42048" y="2624065"/>
            <a:ext cx="50292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900" b="1">
                <a:solidFill>
                  <a:srgbClr val="213735"/>
                </a:solidFill>
                <a:latin typeface="Aptos"/>
              </a:rPr>
              <a:t>54.5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27264" y="2945489"/>
            <a:ext cx="393192" cy="2632350"/>
          </a:xfrm>
          <a:prstGeom prst="rect">
            <a:avLst/>
          </a:prstGeom>
          <a:solidFill>
            <a:srgbClr val="2D6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2698601"/>
            <a:ext cx="50292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900" b="1">
                <a:solidFill>
                  <a:srgbClr val="213735"/>
                </a:solidFill>
                <a:latin typeface="Aptos"/>
              </a:rPr>
              <a:t>53.0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48272" y="5751576"/>
            <a:ext cx="16459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100" b="1">
                <a:solidFill>
                  <a:srgbClr val="213735"/>
                </a:solidFill>
                <a:latin typeface="Aptos"/>
              </a:rPr>
              <a:t>+24 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80160" y="6053328"/>
            <a:ext cx="146304" cy="146304"/>
          </a:xfrm>
          <a:prstGeom prst="roundRect">
            <a:avLst/>
          </a:prstGeom>
          <a:solidFill>
            <a:srgbClr val="708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08760" y="6025896"/>
            <a:ext cx="160020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00" b="0">
                <a:solidFill>
                  <a:srgbClr val="70837D"/>
                </a:solidFill>
                <a:latin typeface="Aptos"/>
              </a:rPr>
              <a:t>Persistence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08960" y="6053328"/>
            <a:ext cx="146304" cy="146304"/>
          </a:xfrm>
          <a:prstGeom prst="roundRect">
            <a:avLst/>
          </a:prstGeom>
          <a:solidFill>
            <a:srgbClr val="EAB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37560" y="6025896"/>
            <a:ext cx="160020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00" b="0">
                <a:solidFill>
                  <a:srgbClr val="70837D"/>
                </a:solidFill>
                <a:latin typeface="Aptos"/>
              </a:rPr>
              <a:t>HistGradientBoosting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37760" y="6053328"/>
            <a:ext cx="146304" cy="146304"/>
          </a:xfrm>
          <a:prstGeom prst="roundRect">
            <a:avLst/>
          </a:prstGeom>
          <a:solidFill>
            <a:srgbClr val="2D6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66360" y="6025896"/>
            <a:ext cx="160020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00" b="0">
                <a:solidFill>
                  <a:srgbClr val="70837D"/>
                </a:solidFill>
                <a:latin typeface="Aptos"/>
              </a:rPr>
              <a:t>WAGTF-Net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15400" y="2075688"/>
            <a:ext cx="2514600" cy="3520440"/>
          </a:xfrm>
          <a:prstGeom prst="roundRect">
            <a:avLst/>
          </a:prstGeom>
          <a:solidFill>
            <a:srgbClr val="DC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71432" y="2395728"/>
            <a:ext cx="192024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1">
                <a:solidFill>
                  <a:srgbClr val="2D6258"/>
                </a:solidFill>
                <a:latin typeface="Aptos"/>
              </a:rPr>
              <a:t>AT +6 HOURS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71432" y="2770632"/>
            <a:ext cx="1920240" cy="5486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3100" b="1">
                <a:solidFill>
                  <a:srgbClr val="213735"/>
                </a:solidFill>
                <a:latin typeface="Aptos Display"/>
              </a:rPr>
              <a:t>28.80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71432" y="3337560"/>
            <a:ext cx="192024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00" b="0">
                <a:solidFill>
                  <a:srgbClr val="70837D"/>
                </a:solidFill>
                <a:latin typeface="Aptos"/>
              </a:rPr>
              <a:t>µg/m³ MAE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71432" y="3904487"/>
            <a:ext cx="1920240" cy="6217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300" b="1">
                <a:solidFill>
                  <a:srgbClr val="213735"/>
                </a:solidFill>
                <a:latin typeface="Aptos"/>
              </a:rPr>
              <a:t>vs 31.19 for Gradient Boosting
≈ 7.7% lower MAE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71432" y="4882896"/>
            <a:ext cx="1920240" cy="5303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0">
                <a:solidFill>
                  <a:srgbClr val="70837D"/>
                </a:solidFill>
                <a:latin typeface="Aptos"/>
              </a:rPr>
              <a:t>At +1 h, Gradient Boosting has lower MAE (10.07 vs 10.92).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00" b="1">
                <a:solidFill>
                  <a:srgbClr val="70837D"/>
                </a:solidFill>
                <a:latin typeface="Aptos"/>
              </a:rPr>
              <a:t>MOSAIC-AIR  ·  ENVIRONMENTAL MANAGEMENT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900" b="1">
                <a:solidFill>
                  <a:srgbClr val="70837D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1">
                <a:solidFill>
                  <a:srgbClr val="E5B96C"/>
                </a:solidFill>
                <a:latin typeface="Aptos"/>
              </a:rPr>
              <a:t>08 /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22376"/>
            <a:ext cx="10972800" cy="5943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700" b="1">
                <a:solidFill>
                  <a:srgbClr val="FFFEFA"/>
                </a:solidFill>
                <a:latin typeface="Aptos Display"/>
              </a:rPr>
              <a:t>Uncertainty helps—but missing inputs still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78992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300" b="0">
                <a:solidFill>
                  <a:srgbClr val="C4D2CC"/>
                </a:solidFill>
                <a:latin typeface="Aptos"/>
              </a:rPr>
              <a:t>Nominal 80% P10–P90 coverage is close overall; the long-horizon interval is broad.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029968"/>
            <a:ext cx="3401568" cy="1353312"/>
          </a:xfrm>
          <a:prstGeom prst="roundRect">
            <a:avLst/>
          </a:prstGeom>
          <a:solidFill>
            <a:srgbClr val="294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2267712"/>
            <a:ext cx="7315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00" b="1">
                <a:solidFill>
                  <a:srgbClr val="EAB45E"/>
                </a:solidFill>
                <a:latin typeface="Aptos"/>
              </a:rPr>
              <a:t>+1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606040"/>
            <a:ext cx="292608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200" b="1">
                <a:solidFill>
                  <a:srgbClr val="FFFEFA"/>
                </a:solidFill>
                <a:latin typeface="Aptos"/>
              </a:rPr>
              <a:t>82.5%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063240"/>
            <a:ext cx="292608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0">
                <a:solidFill>
                  <a:srgbClr val="B8CCC3"/>
                </a:solidFill>
                <a:latin typeface="Aptos"/>
              </a:rPr>
              <a:t>36.7 µg/m³ mean width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07992" y="2029968"/>
            <a:ext cx="3401568" cy="1353312"/>
          </a:xfrm>
          <a:prstGeom prst="roundRect">
            <a:avLst/>
          </a:prstGeom>
          <a:solidFill>
            <a:srgbClr val="294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18304" y="2267712"/>
            <a:ext cx="7315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00" b="1">
                <a:solidFill>
                  <a:srgbClr val="EAB45E"/>
                </a:solidFill>
                <a:latin typeface="Aptos"/>
              </a:rPr>
              <a:t>+6 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8304" y="2606040"/>
            <a:ext cx="292608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200" b="1">
                <a:solidFill>
                  <a:srgbClr val="FFFEFA"/>
                </a:solidFill>
                <a:latin typeface="Aptos"/>
              </a:rPr>
              <a:t>84.1%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304" y="3063240"/>
            <a:ext cx="292608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0">
                <a:solidFill>
                  <a:srgbClr val="B8CCC3"/>
                </a:solidFill>
                <a:latin typeface="Aptos"/>
              </a:rPr>
              <a:t>95.8 µg/m³ mean width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2029968"/>
            <a:ext cx="3401568" cy="1353312"/>
          </a:xfrm>
          <a:prstGeom prst="roundRect">
            <a:avLst/>
          </a:prstGeom>
          <a:solidFill>
            <a:srgbClr val="294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13064" y="2267712"/>
            <a:ext cx="7315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00" b="1">
                <a:solidFill>
                  <a:srgbClr val="EAB45E"/>
                </a:solidFill>
                <a:latin typeface="Aptos"/>
              </a:rPr>
              <a:t>+24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13064" y="2606040"/>
            <a:ext cx="292608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200" b="1">
                <a:solidFill>
                  <a:srgbClr val="FFFEFA"/>
                </a:solidFill>
                <a:latin typeface="Aptos"/>
              </a:rPr>
              <a:t>80.4%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13064" y="3063240"/>
            <a:ext cx="292608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0">
                <a:solidFill>
                  <a:srgbClr val="B8CCC3"/>
                </a:solidFill>
                <a:latin typeface="Aptos"/>
              </a:rPr>
              <a:t>155.4 µg/m³ mean width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822191"/>
            <a:ext cx="768096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1">
                <a:solidFill>
                  <a:srgbClr val="EAB45E"/>
                </a:solidFill>
                <a:latin typeface="Aptos"/>
              </a:rPr>
              <a:t>ADDITIONAL 20% PM₂.₅ INPUT MISSING · CHANGE IN TEST MAE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270248"/>
            <a:ext cx="91440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1">
                <a:solidFill>
                  <a:srgbClr val="B8CCC3"/>
                </a:solidFill>
                <a:latin typeface="Aptos"/>
              </a:rPr>
              <a:t>+1 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572000"/>
            <a:ext cx="210312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500" b="1">
                <a:solidFill>
                  <a:srgbClr val="D97754"/>
                </a:solidFill>
                <a:latin typeface="Aptos"/>
              </a:rPr>
              <a:t>+63.6%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5093208"/>
            <a:ext cx="246888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00" b="0">
                <a:solidFill>
                  <a:srgbClr val="FFFEFA"/>
                </a:solidFill>
                <a:latin typeface="Aptos"/>
              </a:rPr>
              <a:t>10.9 → 17.9 MAE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4270248"/>
            <a:ext cx="91440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1">
                <a:solidFill>
                  <a:srgbClr val="B8CCC3"/>
                </a:solidFill>
                <a:latin typeface="Aptos"/>
              </a:rPr>
              <a:t>+6 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4572000"/>
            <a:ext cx="210312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500" b="1">
                <a:solidFill>
                  <a:srgbClr val="EAB45E"/>
                </a:solidFill>
                <a:latin typeface="Aptos"/>
              </a:rPr>
              <a:t>+13.6%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5093208"/>
            <a:ext cx="246888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00" b="0">
                <a:solidFill>
                  <a:srgbClr val="FFFEFA"/>
                </a:solidFill>
                <a:latin typeface="Aptos"/>
              </a:rPr>
              <a:t>28.8 → 32.7 MAE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5008" y="4270248"/>
            <a:ext cx="91440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1">
                <a:solidFill>
                  <a:srgbClr val="B8CCC3"/>
                </a:solidFill>
                <a:latin typeface="Aptos"/>
              </a:rPr>
              <a:t>+24 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5008" y="4572000"/>
            <a:ext cx="210312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500" b="1">
                <a:solidFill>
                  <a:srgbClr val="EAB45E"/>
                </a:solidFill>
                <a:latin typeface="Aptos"/>
              </a:rPr>
              <a:t>+0.8%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5008" y="5093208"/>
            <a:ext cx="246888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00" b="0">
                <a:solidFill>
                  <a:srgbClr val="FFFEFA"/>
                </a:solidFill>
                <a:latin typeface="Aptos"/>
              </a:rPr>
              <a:t>53.0 → 53.5 MAE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788152"/>
            <a:ext cx="1042416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0">
                <a:solidFill>
                  <a:srgbClr val="B8CCC3"/>
                </a:solidFill>
                <a:latin typeface="Aptos"/>
              </a:rPr>
              <a:t>Randomly masking extra input cells without retraining. One-hour forecasts degrade most; add missing-data augmentation before deployment.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00" b="1">
                <a:solidFill>
                  <a:srgbClr val="B8CCC3"/>
                </a:solidFill>
                <a:latin typeface="Aptos"/>
              </a:rPr>
              <a:t>MOSAIC-AIR  ·  ENVIRONMENTAL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900" b="1">
                <a:solidFill>
                  <a:srgbClr val="B8CCC3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1">
                <a:solidFill>
                  <a:srgbClr val="2D6258"/>
                </a:solidFill>
                <a:latin typeface="Aptos"/>
              </a:rPr>
              <a:t>09 /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22376"/>
            <a:ext cx="10972800" cy="5943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700" b="1">
                <a:solidFill>
                  <a:srgbClr val="213735"/>
                </a:solidFill>
                <a:latin typeface="Aptos Display"/>
              </a:rPr>
              <a:t>The dashboard makes forecasts location-specific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78992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300" b="0">
                <a:solidFill>
                  <a:srgbClr val="70837D"/>
                </a:solidFill>
                <a:latin typeface="Aptos"/>
              </a:rPr>
              <a:t>A local REST API serves the selected historical issue time to the browser interface.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920240"/>
            <a:ext cx="6537960" cy="379476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9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85416"/>
            <a:ext cx="539496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1">
                <a:solidFill>
                  <a:srgbClr val="2D6258"/>
                </a:solidFill>
                <a:latin typeface="Aptos"/>
              </a:rPr>
              <a:t>STATION MAP · GEOGRAPHIC CONTEXT</a:t>
            </a:r>
          </a:p>
        </p:txBody>
      </p:sp>
      <p:pic>
        <p:nvPicPr>
          <p:cNvPr id="7" name="Picture 6" descr="statio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542032"/>
            <a:ext cx="4069080" cy="28529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175504" y="2514600"/>
            <a:ext cx="1673352" cy="2926080"/>
          </a:xfrm>
          <a:prstGeom prst="roundRect">
            <a:avLst/>
          </a:prstGeom>
          <a:solidFill>
            <a:srgbClr val="ED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49240" y="2761488"/>
            <a:ext cx="132588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00" b="1">
                <a:solidFill>
                  <a:srgbClr val="2D6258"/>
                </a:solidFill>
                <a:latin typeface="Aptos"/>
              </a:rPr>
              <a:t>SELECTED 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3108960"/>
            <a:ext cx="132588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500" b="1">
                <a:solidFill>
                  <a:srgbClr val="213735"/>
                </a:solidFill>
                <a:latin typeface="Aptos Display"/>
              </a:rPr>
              <a:t>Station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3703320"/>
            <a:ext cx="128016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00" b="0">
                <a:solidFill>
                  <a:srgbClr val="70837D"/>
                </a:solidFill>
                <a:latin typeface="Aptos"/>
              </a:rPr>
              <a:t>PM₂.₅ median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3931920"/>
            <a:ext cx="1188720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300" b="1">
                <a:solidFill>
                  <a:srgbClr val="213735"/>
                </a:solidFill>
                <a:latin typeface="Aptos"/>
              </a:rPr>
              <a:t>P50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4526280"/>
            <a:ext cx="1344168" cy="6035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00" b="0">
                <a:solidFill>
                  <a:srgbClr val="70837D"/>
                </a:solidFill>
                <a:latin typeface="Aptos"/>
              </a:rPr>
              <a:t>P10–P90 range
Episode probability
Wind · temperature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148840"/>
            <a:ext cx="137160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1">
                <a:solidFill>
                  <a:srgbClr val="D97754"/>
                </a:solidFill>
                <a:latin typeface="Aptos"/>
              </a:rPr>
              <a:t>INCLUDED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606040"/>
            <a:ext cx="3657600" cy="2468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1300"/>
              </a:spcAft>
              <a:defRPr sz="1400">
                <a:solidFill>
                  <a:srgbClr val="213735"/>
                </a:solidFill>
                <a:latin typeface="Aptos"/>
              </a:defRPr>
            </a:pPr>
            <a:r>
              <a:t>•  Interactive station map</a:t>
            </a:r>
          </a:p>
          <a:p>
            <a:pPr>
              <a:spcAft>
                <a:spcPts val="1300"/>
              </a:spcAft>
              <a:defRPr sz="1400">
                <a:solidFill>
                  <a:srgbClr val="213735"/>
                </a:solidFill>
                <a:latin typeface="Aptos"/>
              </a:defRPr>
            </a:pPr>
            <a:r>
              <a:t>•  1 / 6 / 24 h horizon selector</a:t>
            </a:r>
          </a:p>
          <a:p>
            <a:pPr>
              <a:spcAft>
                <a:spcPts val="1300"/>
              </a:spcAft>
              <a:defRPr sz="1400">
                <a:solidFill>
                  <a:srgbClr val="213735"/>
                </a:solidFill>
                <a:latin typeface="Aptos"/>
              </a:defRPr>
            </a:pPr>
            <a:r>
              <a:t>•  P10–P90 uncertainty range</a:t>
            </a:r>
          </a:p>
          <a:p>
            <a:pPr>
              <a:spcAft>
                <a:spcPts val="1300"/>
              </a:spcAft>
              <a:defRPr sz="1400">
                <a:solidFill>
                  <a:srgbClr val="213735"/>
                </a:solidFill>
                <a:latin typeface="Aptos"/>
              </a:defRPr>
            </a:pPr>
            <a:r>
              <a:t>•  Episode probability + hotspot ranking</a:t>
            </a:r>
          </a:p>
          <a:p>
            <a:pPr>
              <a:spcAft>
                <a:spcPts val="1300"/>
              </a:spcAft>
              <a:defRPr sz="1400">
                <a:solidFill>
                  <a:srgbClr val="213735"/>
                </a:solidFill>
                <a:latin typeface="Aptos"/>
              </a:defRPr>
            </a:pPr>
            <a:r>
              <a:t>•  FastAPI JSON endpoints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26096" y="5074920"/>
            <a:ext cx="3794760" cy="621792"/>
          </a:xfrm>
          <a:prstGeom prst="roundRect">
            <a:avLst/>
          </a:prstGeom>
          <a:solidFill>
            <a:srgbClr val="DC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5257800"/>
            <a:ext cx="342900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1">
                <a:solidFill>
                  <a:srgbClr val="2D6258"/>
                </a:solidFill>
                <a:latin typeface="Aptos"/>
              </a:rPr>
              <a:t>Historical replay · not live · not a health advisory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00" b="1">
                <a:solidFill>
                  <a:srgbClr val="70837D"/>
                </a:solidFill>
                <a:latin typeface="Aptos"/>
              </a:rPr>
              <a:t>MOSAIC-AIR  ·  ENVIRONMENTAL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900" b="1">
                <a:solidFill>
                  <a:srgbClr val="70837D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1">
                <a:solidFill>
                  <a:srgbClr val="2D6258"/>
                </a:solidFill>
                <a:latin typeface="Aptos"/>
              </a:rPr>
              <a:t>10 /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22376"/>
            <a:ext cx="10972800" cy="5943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700" b="1">
                <a:solidFill>
                  <a:srgbClr val="213735"/>
                </a:solidFill>
                <a:latin typeface="Aptos Display"/>
              </a:rPr>
              <a:t>What this pilot can—and cannot—say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78992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300" b="0">
                <a:solidFill>
                  <a:srgbClr val="70837D"/>
                </a:solidFill>
                <a:latin typeface="Aptos"/>
              </a:rPr>
              <a:t>The result is promising at the medium horizon and bounded by its benchmark design.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93392"/>
            <a:ext cx="5276088" cy="3493008"/>
          </a:xfrm>
          <a:prstGeom prst="roundRect">
            <a:avLst/>
          </a:prstGeom>
          <a:solidFill>
            <a:srgbClr val="DC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286000"/>
            <a:ext cx="201168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1">
                <a:solidFill>
                  <a:srgbClr val="2D6258"/>
                </a:solidFill>
                <a:latin typeface="Aptos"/>
              </a:rPr>
              <a:t>WHAT WE FOUND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715768"/>
            <a:ext cx="4572000" cy="23317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13735"/>
                </a:solidFill>
                <a:latin typeface="Aptos"/>
              </a:defRPr>
            </a:pPr>
            <a:r>
              <a:t>•  6 h MAE improves about 7.7% over HistGradientBoosting</a:t>
            </a:r>
          </a:p>
          <a:p>
            <a:pPr>
              <a:spcAft>
                <a:spcPts val="1200"/>
              </a:spcAft>
              <a:defRPr sz="1400">
                <a:solidFill>
                  <a:srgbClr val="213735"/>
                </a:solidFill>
                <a:latin typeface="Aptos"/>
              </a:defRPr>
            </a:pPr>
            <a:r>
              <a:t>•  24 h improvement is modest; intervals are wide</a:t>
            </a:r>
          </a:p>
          <a:p>
            <a:pPr>
              <a:spcAft>
                <a:spcPts val="1200"/>
              </a:spcAft>
              <a:defRPr sz="1400">
                <a:solidFill>
                  <a:srgbClr val="213735"/>
                </a:solidFill>
                <a:latin typeface="Aptos"/>
              </a:defRPr>
            </a:pPr>
            <a:r>
              <a:t>•  One-hour forecasts depend on recent PM₂.₅ inputs</a:t>
            </a:r>
          </a:p>
          <a:p>
            <a:pPr>
              <a:spcAft>
                <a:spcPts val="1200"/>
              </a:spcAft>
              <a:defRPr sz="1400">
                <a:solidFill>
                  <a:srgbClr val="213735"/>
                </a:solidFill>
                <a:latin typeface="Aptos"/>
              </a:defRPr>
            </a:pPr>
            <a:r>
              <a:t>•  Forecasts and hotspot views work end to 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993392"/>
            <a:ext cx="5285232" cy="349300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9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2286000"/>
            <a:ext cx="237744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1">
                <a:solidFill>
                  <a:srgbClr val="D97754"/>
                </a:solidFill>
                <a:latin typeface="Aptos"/>
              </a:rPr>
              <a:t>NEXT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715768"/>
            <a:ext cx="4572000" cy="23317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13735"/>
                </a:solidFill>
                <a:latin typeface="Aptos"/>
              </a:defRPr>
            </a:pPr>
            <a:r>
              <a:t>•  Use a local dataset; test held-out stations and cities</a:t>
            </a:r>
          </a:p>
          <a:p>
            <a:pPr>
              <a:spcAft>
                <a:spcPts val="1200"/>
              </a:spcAft>
              <a:defRPr sz="1400">
                <a:solidFill>
                  <a:srgbClr val="213735"/>
                </a:solidFill>
                <a:latin typeface="Aptos"/>
              </a:defRPr>
            </a:pPr>
            <a:r>
              <a:t>•  Join live observations to forecast weather</a:t>
            </a:r>
          </a:p>
          <a:p>
            <a:pPr>
              <a:spcAft>
                <a:spcPts val="1200"/>
              </a:spcAft>
              <a:defRPr sz="1400">
                <a:solidFill>
                  <a:srgbClr val="213735"/>
                </a:solidFill>
                <a:latin typeface="Aptos"/>
              </a:defRPr>
            </a:pPr>
            <a:r>
              <a:t>•  Stress-test outages, drift, and systematic missingness</a:t>
            </a:r>
          </a:p>
          <a:p>
            <a:pPr>
              <a:spcAft>
                <a:spcPts val="1200"/>
              </a:spcAft>
              <a:defRPr sz="1400">
                <a:solidFill>
                  <a:srgbClr val="213735"/>
                </a:solidFill>
                <a:latin typeface="Aptos"/>
              </a:defRPr>
            </a:pPr>
            <a:r>
              <a:t>•  Calibrate by station/horizon; review thresholds locally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5779008"/>
            <a:ext cx="1042416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00" b="1">
                <a:solidFill>
                  <a:srgbClr val="70837D"/>
                </a:solidFill>
                <a:latin typeface="Aptos"/>
              </a:rPr>
              <a:t>The 75 µg/m³ label is a project benchmark—not a health or regulatory threshold.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00" b="1">
                <a:solidFill>
                  <a:srgbClr val="70837D"/>
                </a:solidFill>
                <a:latin typeface="Aptos"/>
              </a:rPr>
              <a:t>MOSAIC-AIR  ·  ENVIRONMENTAL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900" b="1">
                <a:solidFill>
                  <a:srgbClr val="70837D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640080"/>
            <a:ext cx="3017520" cy="292608"/>
          </a:xfrm>
          <a:prstGeom prst="roundRect">
            <a:avLst/>
          </a:prstGeom>
          <a:solidFill>
            <a:srgbClr val="315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690372"/>
            <a:ext cx="2871215" cy="1920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900" b="1">
                <a:solidFill>
                  <a:srgbClr val="D5E6DB"/>
                </a:solidFill>
                <a:latin typeface="Aptos"/>
              </a:rPr>
              <a:t>MOSAIC-AIR · PILOT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44752"/>
            <a:ext cx="7498079" cy="1417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3300" b="1">
                <a:solidFill>
                  <a:srgbClr val="FFFEFA"/>
                </a:solidFill>
                <a:latin typeface="Aptos Display"/>
              </a:rPr>
              <a:t>A reproducible path from
station data to spatial forecasts.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3337560"/>
            <a:ext cx="7132320" cy="8229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600" b="0">
                <a:solidFill>
                  <a:srgbClr val="C4D2CC"/>
                </a:solidFill>
                <a:latin typeface="Aptos"/>
              </a:rPr>
              <a:t>WAGTF-Net shows value at 6 hours in this Beijing case study. The next step is validation with local data, weather forecasts, and environmental stakeholders.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4782312"/>
            <a:ext cx="2971800" cy="658368"/>
          </a:xfrm>
          <a:prstGeom prst="roundRect">
            <a:avLst/>
          </a:prstGeom>
          <a:solidFill>
            <a:srgbClr val="294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4992624"/>
            <a:ext cx="251460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700" b="1">
                <a:solidFill>
                  <a:srgbClr val="EAB45E"/>
                </a:solidFill>
                <a:latin typeface="Aptos"/>
              </a:rPr>
              <a:t>Thank you</a:t>
            </a:r>
          </a:p>
        </p:txBody>
      </p:sp>
      <p:sp>
        <p:nvSpPr>
          <p:cNvPr id="8" name="Oval 7"/>
          <p:cNvSpPr/>
          <p:nvPr/>
        </p:nvSpPr>
        <p:spPr>
          <a:xfrm>
            <a:off x="9144000" y="1828800"/>
            <a:ext cx="173736" cy="173736"/>
          </a:xfrm>
          <a:prstGeom prst="ellipse">
            <a:avLst/>
          </a:prstGeom>
          <a:solidFill>
            <a:srgbClr val="EAB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0" y="1325880"/>
            <a:ext cx="173736" cy="173736"/>
          </a:xfrm>
          <a:prstGeom prst="ellipse">
            <a:avLst/>
          </a:prstGeom>
          <a:solidFill>
            <a:srgbClr val="EAB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0" y="2834640"/>
            <a:ext cx="173736" cy="173736"/>
          </a:xfrm>
          <a:prstGeom prst="ellipse">
            <a:avLst/>
          </a:prstGeom>
          <a:solidFill>
            <a:srgbClr val="EAB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75520" y="3840480"/>
            <a:ext cx="173736" cy="173736"/>
          </a:xfrm>
          <a:prstGeom prst="ellipse">
            <a:avLst/>
          </a:prstGeom>
          <a:solidFill>
            <a:srgbClr val="EAB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0" y="3657600"/>
            <a:ext cx="173736" cy="173736"/>
          </a:xfrm>
          <a:prstGeom prst="ellipse">
            <a:avLst/>
          </a:prstGeom>
          <a:solidFill>
            <a:srgbClr val="EAB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24160" y="5074920"/>
            <a:ext cx="173736" cy="173736"/>
          </a:xfrm>
          <a:prstGeom prst="ellipse">
            <a:avLst/>
          </a:prstGeom>
          <a:solidFill>
            <a:srgbClr val="EAB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9235440" y="1417320"/>
            <a:ext cx="1371600" cy="502920"/>
          </a:xfrm>
          <a:prstGeom prst="line">
            <a:avLst/>
          </a:prstGeom>
          <a:ln w="17780">
            <a:solidFill>
              <a:srgbClr val="527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607040" y="1417320"/>
            <a:ext cx="457200" cy="1508760"/>
          </a:xfrm>
          <a:prstGeom prst="line">
            <a:avLst/>
          </a:prstGeom>
          <a:ln w="17780">
            <a:solidFill>
              <a:srgbClr val="527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9966960" y="2926080"/>
            <a:ext cx="1097280" cy="1005840"/>
          </a:xfrm>
          <a:prstGeom prst="line">
            <a:avLst/>
          </a:prstGeom>
          <a:ln w="17780">
            <a:solidFill>
              <a:srgbClr val="527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8778240" y="3749039"/>
            <a:ext cx="1188720" cy="182881"/>
          </a:xfrm>
          <a:prstGeom prst="line">
            <a:avLst/>
          </a:prstGeom>
          <a:ln w="17780">
            <a:solidFill>
              <a:srgbClr val="527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966960" y="3931920"/>
            <a:ext cx="548640" cy="1234440"/>
          </a:xfrm>
          <a:prstGeom prst="line">
            <a:avLst/>
          </a:prstGeom>
          <a:ln w="17780">
            <a:solidFill>
              <a:srgbClr val="527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235440" y="1920240"/>
            <a:ext cx="731520" cy="2011680"/>
          </a:xfrm>
          <a:prstGeom prst="line">
            <a:avLst/>
          </a:prstGeom>
          <a:ln w="17780">
            <a:solidFill>
              <a:srgbClr val="527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00" b="1">
                <a:solidFill>
                  <a:srgbClr val="B8CCC3"/>
                </a:solidFill>
                <a:latin typeface="Aptos"/>
              </a:rPr>
              <a:t>MOSAIC-AIR  ·  ENVIRONMENTAL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900" b="1">
                <a:solidFill>
                  <a:srgbClr val="B8CCC3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MOSAIC-Air: Wind-Aware Urban Air Pollution Forecasting</dc:title>
  <dc:subject>Environmental Management project presentation</dc:subject>
  <dc:creator>Aakash, Shaik Mohammed Atif, Shivadev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